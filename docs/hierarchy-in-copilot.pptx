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70432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alibri"/>
              </a:rPr>
              <a:t>MICROSOFT 365 COPILOT CONNECTORS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27632"/>
            <a:ext cx="82296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Handling hierarchical data</a:t>
            </a:r>
          </a:p>
          <a:p>
            <a:pPr algn="l">
              <a:lnSpc>
                <a:spcPct val="102000"/>
              </a:lnSpc>
              <a:spcBef>
                <a:spcPts val="200"/>
              </a:spcBef>
            </a:pPr>
            <a:r>
              <a:rPr sz="4400" b="1" i="0">
                <a:solidFill>
                  <a:srgbClr val="FFFFFF"/>
                </a:solidFill>
                <a:latin typeface="Cambria"/>
              </a:rPr>
              <a:t>in a flat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84448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CADCFC"/>
                </a:solidFill>
                <a:latin typeface="Calibri"/>
              </a:rPr>
              <a:t>A worked example: Customer → Engagement → TimeEntry, indexed so that searching a customer returns their engagements and their logged hours.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32520" y="1920240"/>
            <a:ext cx="2743200" cy="402336"/>
          </a:xfrm>
          <a:prstGeom prst="roundRect">
            <a:avLst>
              <a:gd name="adj" fmla="val 25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0" bIns="0"/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1   Customer</a:t>
            </a:r>
            <a:r>
              <a:rPr sz="1300" b="0">
                <a:solidFill>
                  <a:srgbClr val="1E2761"/>
                </a:solidFill>
                <a:latin typeface="Calibri"/>
              </a:rPr>
              <a:t>  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89720" y="2441448"/>
            <a:ext cx="2286000" cy="402336"/>
          </a:xfrm>
          <a:prstGeom prst="roundRect">
            <a:avLst>
              <a:gd name="adj" fmla="val 25000"/>
            </a:avLst>
          </a:prstGeom>
          <a:solidFill>
            <a:srgbClr val="4A5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0" bIns="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2   Engagement</a:t>
            </a:r>
            <a:r>
              <a:rPr sz="1300" b="0">
                <a:solidFill>
                  <a:srgbClr val="FFFFFF"/>
                </a:solidFill>
                <a:latin typeface="Calibri"/>
              </a:rPr>
              <a:t>    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2962656"/>
            <a:ext cx="1828800" cy="402336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0" bIns="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3   TimeEntry</a:t>
            </a:r>
            <a:r>
              <a:rPr sz="1300" b="0">
                <a:solidFill>
                  <a:srgbClr val="FFFFFF"/>
                </a:solidFill>
                <a:latin typeface="Calibri"/>
              </a:rPr>
              <a:t>    1,052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3675887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1,126 items, one connection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029200"/>
            <a:ext cx="3840480" cy="54864"/>
          </a:xfrm>
          <a:prstGeom prst="roundRect">
            <a:avLst>
              <a:gd name="adj" fmla="val 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321808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SqlHierarchyPush  ·  direct push, no connector agent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CADCFC"/>
                </a:solidFill>
                <a:latin typeface="Calibri"/>
              </a:rPr>
              <a:t>github.com/JosephSaad/m365-copilot-sql-connector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375136" y="384048"/>
            <a:ext cx="402336" cy="7772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475719" y="502920"/>
            <a:ext cx="301752" cy="77724"/>
          </a:xfrm>
          <a:prstGeom prst="roundRect">
            <a:avLst>
              <a:gd name="adj" fmla="val 50000"/>
            </a:avLst>
          </a:prstGeom>
          <a:solidFill>
            <a:srgbClr val="4A5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576304" y="621792"/>
            <a:ext cx="201168" cy="7772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5B9E"/>
                </a:solidFill>
                <a:latin typeface="Calibri"/>
              </a:rPr>
              <a:t>THE REQUIREMENT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046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1E2761"/>
                </a:solidFill>
                <a:latin typeface="Cambria"/>
              </a:rPr>
              <a:t>What we were asked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5943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1E2761"/>
                </a:solidFill>
                <a:latin typeface="Calibri"/>
              </a:rPr>
              <a:t>Search a customer in Copilot and get </a:t>
            </a:r>
            <a:r>
              <a:rPr sz="1900" b="1" i="0">
                <a:solidFill>
                  <a:srgbClr val="F5A623"/>
                </a:solidFill>
                <a:latin typeface="Calibri"/>
              </a:rPr>
              <a:t>their engagements and their time entries</a:t>
            </a:r>
            <a:r>
              <a:rPr sz="1900" b="0" i="0">
                <a:solidFill>
                  <a:srgbClr val="1E2761"/>
                </a:solidFill>
                <a:latin typeface="Calibri"/>
              </a:rPr>
              <a:t> back — not just the customer record.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880360"/>
            <a:ext cx="5943600" cy="2834640"/>
          </a:xfrm>
          <a:prstGeom prst="roundRect">
            <a:avLst>
              <a:gd name="adj" fmla="val 4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1546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5B9E"/>
                </a:solidFill>
                <a:latin typeface="Calibri"/>
              </a:rPr>
              <a:t>THE SOURCE, AS SQL SERVER SEES 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611880"/>
            <a:ext cx="5029200" cy="384048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0" bIns="0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1   Customer</a:t>
            </a:r>
            <a:r>
              <a:rPr sz="1200" b="0">
                <a:solidFill>
                  <a:srgbClr val="FFFFFF"/>
                </a:solidFill>
                <a:latin typeface="Calibri"/>
              </a:rPr>
              <a:t>    12 customers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08760" y="4105656"/>
            <a:ext cx="4526280" cy="384048"/>
          </a:xfrm>
          <a:prstGeom prst="roundRect">
            <a:avLst>
              <a:gd name="adj" fmla="val 25000"/>
            </a:avLst>
          </a:prstGeom>
          <a:solidFill>
            <a:srgbClr val="4A5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0" bIns="0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2   Engagement</a:t>
            </a:r>
            <a:r>
              <a:rPr sz="1200" b="0">
                <a:solidFill>
                  <a:srgbClr val="FFFFFF"/>
                </a:solidFill>
                <a:latin typeface="Calibri"/>
              </a:rPr>
              <a:t>    62 engagements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4599432"/>
            <a:ext cx="4023360" cy="384048"/>
          </a:xfrm>
          <a:prstGeom prst="roundRect">
            <a:avLst>
              <a:gd name="adj" fmla="val 25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0" bIns="0"/>
          <a:lstStyle/>
          <a:p>
            <a:pPr algn="l"/>
            <a:r>
              <a:rPr sz="1200" b="1">
                <a:solidFill>
                  <a:srgbClr val="1E2761"/>
                </a:solidFill>
                <a:latin typeface="Calibri"/>
              </a:rPr>
              <a:t>3   TimeEntry</a:t>
            </a:r>
            <a:r>
              <a:rPr sz="1200" b="0">
                <a:solidFill>
                  <a:srgbClr val="1E2761"/>
                </a:solidFill>
                <a:latin typeface="Calibri"/>
              </a:rPr>
              <a:t>    1,052 time entries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166360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A6376"/>
                </a:solidFill>
                <a:latin typeface="Calibri"/>
              </a:rPr>
              <a:t>Two foreign keys. Every customer has four to six engagements; every engagement twelve to twenty-two entries.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1874519"/>
            <a:ext cx="4526280" cy="384048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219456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THE QUESTIONS TO ANSWER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697480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FFFFFF"/>
                </a:solidFill>
                <a:latin typeface="Calibri"/>
              </a:rPr>
              <a:t>“What work have we done for Contoso Financial Services?”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474720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FFFFFF"/>
                </a:solidFill>
                <a:latin typeface="Calibri"/>
              </a:rPr>
              <a:t>“Who has logged time against the Data Platform Migration?”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251960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FFFFFF"/>
                </a:solidFill>
                <a:latin typeface="Calibri"/>
              </a:rPr>
              <a:t>“What is Priya Raman working on?”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5029200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FFFFFF"/>
                </a:solidFill>
                <a:latin typeface="Calibri"/>
              </a:rPr>
              <a:t>“Summarise the Northwind Health engagements and their status.”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14476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A6376"/>
                </a:solidFill>
                <a:latin typeface="Calibri"/>
              </a:rPr>
              <a:t>Each one needs items from more than one level of the hierarchy in a single answer.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375136" y="384048"/>
            <a:ext cx="402336" cy="7772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475719" y="502920"/>
            <a:ext cx="301752" cy="77724"/>
          </a:xfrm>
          <a:prstGeom prst="roundRect">
            <a:avLst>
              <a:gd name="adj" fmla="val 50000"/>
            </a:avLst>
          </a:prstGeom>
          <a:solidFill>
            <a:srgbClr val="4A5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576304" y="621792"/>
            <a:ext cx="201168" cy="7772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THE CONSTRAINT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046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mbria"/>
              </a:rPr>
              <a:t>A Graph external item is flat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CADCFC"/>
                </a:solidFill>
                <a:latin typeface="Calibri"/>
              </a:rPr>
              <a:t>Not "hard to model hierarchically". There is no mechanism at all.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788920"/>
            <a:ext cx="5120640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3008376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  <a:latin typeface="Cambria"/>
              </a:rPr>
              <a:t>No parent property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447287"/>
            <a:ext cx="44805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Nothing on an item points at the thing it belongs 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788920"/>
            <a:ext cx="5120640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3008376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  <a:latin typeface="Cambria"/>
              </a:rPr>
              <a:t>No child collection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3447287"/>
            <a:ext cx="44805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Nothing lists what belongs to an item.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361688"/>
            <a:ext cx="5120640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4581144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  <a:latin typeface="Cambria"/>
              </a:rPr>
              <a:t>No join at retrieval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5020055"/>
            <a:ext cx="44805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Two items are never combined to answer one question.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361688"/>
            <a:ext cx="5120640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4581144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  <a:latin typeface="Cambria"/>
              </a:rPr>
              <a:t>No enumeration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5020055"/>
            <a:ext cx="44805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externalItem has Create, Get, Update, Delete. Nothing lists.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14476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Copilot retrieves individual documents. It does not traverse anything, because there is nothing to traverse.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375136" y="384048"/>
            <a:ext cx="402336" cy="7772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475719" y="502920"/>
            <a:ext cx="301752" cy="77724"/>
          </a:xfrm>
          <a:prstGeom prst="roundRect">
            <a:avLst>
              <a:gd name="adj" fmla="val 50000"/>
            </a:avLst>
          </a:prstGeom>
          <a:solidFill>
            <a:srgbClr val="4A5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576304" y="621792"/>
            <a:ext cx="201168" cy="7772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5B9E"/>
                </a:solidFill>
                <a:latin typeface="Calibri"/>
              </a:rPr>
              <a:t>RETRIEVAL, STEP BY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046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1E2761"/>
                </a:solidFill>
                <a:latin typeface="Cambria"/>
              </a:rPr>
              <a:t>What Copilot actually does with a question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178308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0136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Cambria"/>
              </a:rPr>
              <a:t>Rewrite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828800"/>
            <a:ext cx="397763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A6376"/>
                </a:solidFill>
                <a:latin typeface="Calibri"/>
              </a:rPr>
              <a:t>The question becomes search terms.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679191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697479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Cambria"/>
              </a:rPr>
              <a:t>Retrieve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724911"/>
            <a:ext cx="397763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A6376"/>
                </a:solidFill>
                <a:latin typeface="Calibri"/>
              </a:rPr>
              <a:t>The top matching items come back from the semantic index — a handful, not the set.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575304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59359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Cambria"/>
              </a:rPr>
              <a:t>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621024"/>
            <a:ext cx="397763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A6376"/>
                </a:solidFill>
                <a:latin typeface="Calibri"/>
              </a:rPr>
              <a:t>Only those items’ own text is available.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4471416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489703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Cambria"/>
              </a:rPr>
              <a:t>Compose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4517136"/>
            <a:ext cx="397763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A6376"/>
                </a:solidFill>
                <a:latin typeface="Calibri"/>
              </a:rPr>
              <a:t>An answer is written from that text, citing the items.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1783080"/>
            <a:ext cx="4160520" cy="301752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40" y="21031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STEP 3 IS THE WHOLE GAME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2606039"/>
            <a:ext cx="35661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Whatever is not in the retrieved items’ own text </a:t>
            </a:r>
            <a:r>
              <a:rPr sz="1400" b="1" i="0">
                <a:solidFill>
                  <a:srgbClr val="F5A623"/>
                </a:solidFill>
                <a:latin typeface="Calibri"/>
              </a:rPr>
              <a:t>does not exist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 as far as the answer is concerned.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</a:pPr>
            <a:r>
              <a:rPr sz="1400" b="0" i="0">
                <a:solidFill>
                  <a:srgbClr val="CADCFC"/>
                </a:solidFill>
                <a:latin typeface="Calibri"/>
              </a:rPr>
              <a:t>Copilot never goes back for “the children of this item”. There is nothing to go back to.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14476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A6376"/>
                </a:solidFill>
                <a:latin typeface="Calibri"/>
              </a:rPr>
              <a:t>So the only lever available is what each item carries in its own text — decided before anything is indexed.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375136" y="384048"/>
            <a:ext cx="402336" cy="7772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475719" y="502920"/>
            <a:ext cx="301752" cy="77724"/>
          </a:xfrm>
          <a:prstGeom prst="roundRect">
            <a:avLst>
              <a:gd name="adj" fmla="val 50000"/>
            </a:avLst>
          </a:prstGeom>
          <a:solidFill>
            <a:srgbClr val="4A5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576304" y="621792"/>
            <a:ext cx="201168" cy="7772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5B9E"/>
                </a:solidFill>
                <a:latin typeface="Calibri"/>
              </a:rPr>
              <a:t>THE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046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1E2761"/>
                </a:solidFill>
                <a:latin typeface="Cambria"/>
              </a:rPr>
              <a:t>Which is why foreign keys achieve nothing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5166360" cy="2788920"/>
          </a:xfrm>
          <a:prstGeom prst="roundRect">
            <a:avLst>
              <a:gd name="adj" fmla="val 4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79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5B9E"/>
                </a:solidFill>
                <a:latin typeface="Calibri"/>
              </a:rPr>
              <a:t>WHAT SQL SERVER KNOWS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14600"/>
            <a:ext cx="45720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4A5B9E"/>
                </a:solidFill>
                <a:latin typeface="Calibri"/>
              </a:rPr>
              <a:t>FK_TimeEntries_Engagements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350" b="0" i="0">
                <a:solidFill>
                  <a:srgbClr val="1E2761"/>
                </a:solidFill>
                <a:latin typeface="Calibri"/>
              </a:rPr>
              <a:t>This entry belongs to engagement 101.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350" b="1" i="0">
                <a:solidFill>
                  <a:srgbClr val="4A5B9E"/>
                </a:solidFill>
                <a:latin typeface="Calibri"/>
              </a:rPr>
              <a:t>FK_Engagements_Customers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350" b="0" i="0">
                <a:solidFill>
                  <a:srgbClr val="1E2761"/>
                </a:solidFill>
                <a:latin typeface="Calibri"/>
              </a:rPr>
              <a:t>Engagement 101 belongs to Contoso.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350" b="0" i="0">
                <a:solidFill>
                  <a:srgbClr val="1E2761"/>
                </a:solidFill>
                <a:latin typeface="Calibri"/>
              </a:rPr>
              <a:t>Therefore this entry is Contoso 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5166360" cy="278892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11679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WHAT THE INDEX SEES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514600"/>
            <a:ext cx="45720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CADCFC"/>
                </a:solidFill>
                <a:latin typeface="Calibri"/>
              </a:rPr>
              <a:t>time5001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350" b="0" i="0">
                <a:solidFill>
                  <a:srgbClr val="FFFFFF"/>
                </a:solidFill>
                <a:latin typeface="Calibri"/>
              </a:rPr>
              <a:t>Consultant: Priya Raman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350" b="0" i="0">
                <a:solidFill>
                  <a:srgbClr val="FFFFFF"/>
                </a:solidFill>
                <a:latin typeface="Calibri"/>
              </a:rPr>
              <a:t>Hours: 7.50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350" b="0" i="0">
                <a:solidFill>
                  <a:srgbClr val="FFFFFF"/>
                </a:solidFill>
                <a:latin typeface="Calibri"/>
              </a:rPr>
              <a:t>Narrative: Migrated the customer master…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350" b="1" i="0">
                <a:solidFill>
                  <a:srgbClr val="F5A623"/>
                </a:solidFill>
                <a:latin typeface="Calibri"/>
              </a:rPr>
              <a:t>— nothing about Contoso 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25780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E2761"/>
                </a:solidFill>
                <a:latin typeface="Calibri"/>
              </a:rPr>
              <a:t>A time entry that does not </a:t>
            </a:r>
            <a:r>
              <a:rPr sz="1500" b="1" i="0">
                <a:solidFill>
                  <a:srgbClr val="F5A623"/>
                </a:solidFill>
                <a:latin typeface="Calibri"/>
              </a:rPr>
              <a:t>physically contain</a:t>
            </a:r>
            <a:r>
              <a:rPr sz="1500" b="0" i="0">
                <a:solidFill>
                  <a:srgbClr val="1E2761"/>
                </a:solidFill>
                <a:latin typeface="Calibri"/>
              </a:rPr>
              <a:t> the words “Contoso Financial Services” will never be returned by a search for Contoso — however carefully the schema is declared.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375136" y="384048"/>
            <a:ext cx="402336" cy="7772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475719" y="502920"/>
            <a:ext cx="301752" cy="77724"/>
          </a:xfrm>
          <a:prstGeom prst="roundRect">
            <a:avLst>
              <a:gd name="adj" fmla="val 50000"/>
            </a:avLst>
          </a:prstGeom>
          <a:solidFill>
            <a:srgbClr val="4A5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576304" y="621792"/>
            <a:ext cx="201168" cy="7772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5B9E"/>
                </a:solidFill>
                <a:latin typeface="Calibri"/>
              </a:rPr>
              <a:t>THE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046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1E2761"/>
                </a:solidFill>
                <a:latin typeface="Cambria"/>
              </a:rPr>
              <a:t>The move: do the join at write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5A6376"/>
                </a:solidFill>
                <a:latin typeface="Calibri"/>
              </a:rPr>
              <a:t>The traversal happens once, in SQL, before anything is pushed — instead of at query time, where the platform cannot do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697480"/>
            <a:ext cx="5166360" cy="1371600"/>
          </a:xfrm>
          <a:prstGeom prst="roundRect">
            <a:avLst>
              <a:gd name="adj" fmla="val 4000"/>
            </a:avLst>
          </a:prstGeom>
          <a:solidFill>
            <a:srgbClr val="EEF3FD"/>
          </a:solidFill>
          <a:ln w="1587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9260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A6376"/>
                </a:solidFill>
                <a:latin typeface="Calibri"/>
              </a:rPr>
              <a:t>QUERY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3756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A6376"/>
                </a:solidFill>
                <a:latin typeface="Calibri"/>
              </a:rPr>
              <a:t>Join three tables, then answer.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75887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A6376"/>
                </a:solidFill>
                <a:latin typeface="Calibri"/>
              </a:rPr>
              <a:t>Not available. No join exists.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697480"/>
            <a:ext cx="5166360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9260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WRITE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33756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Join once, bake the result into every item.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4348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mbria"/>
              </a:rPr>
              <a:t>Both directions, because retrieval works both ways: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937760"/>
            <a:ext cx="5120640" cy="960120"/>
          </a:xfrm>
          <a:prstGeom prst="roundRect">
            <a:avLst>
              <a:gd name="adj" fmla="val 4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13892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mbria"/>
              </a:rPr>
              <a:t>Downward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516636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A6376"/>
                </a:solidFill>
                <a:latin typeface="Calibri"/>
              </a:rPr>
              <a:t>Every descendant carries its ancestors’ fields.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937760"/>
            <a:ext cx="5120640" cy="960120"/>
          </a:xfrm>
          <a:prstGeom prst="roundRect">
            <a:avLst>
              <a:gd name="adj" fmla="val 4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513892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mbria"/>
              </a:rPr>
              <a:t>Upward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516636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A6376"/>
                </a:solidFill>
                <a:latin typeface="Calibri"/>
              </a:rPr>
              <a:t>Every ancestor carries a roll-up of its descendants.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375136" y="384048"/>
            <a:ext cx="402336" cy="7772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475719" y="502920"/>
            <a:ext cx="301752" cy="77724"/>
          </a:xfrm>
          <a:prstGeom prst="roundRect">
            <a:avLst>
              <a:gd name="adj" fmla="val 50000"/>
            </a:avLst>
          </a:prstGeom>
          <a:solidFill>
            <a:srgbClr val="4A5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576304" y="621792"/>
            <a:ext cx="201168" cy="7772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5B9E"/>
                </a:solidFill>
                <a:latin typeface="Calibri"/>
              </a:rPr>
              <a:t>THE MECHANISM, IN FULL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046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1E2761"/>
                </a:solidFill>
                <a:latin typeface="Cambria"/>
              </a:rPr>
              <a:t>Anatomy of one time entry item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7452360" cy="3520440"/>
          </a:xfrm>
          <a:prstGeom prst="roundRect">
            <a:avLst>
              <a:gd name="adj" fmla="val 4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79"/>
            <a:ext cx="6858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E2761"/>
                </a:solidFill>
                <a:latin typeface="Courier New"/>
              </a:rPr>
              <a:t>Time entry: Priya Raman — 2026-08-14 — 7.50 hours (billable)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40863"/>
            <a:ext cx="6858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5A623"/>
                </a:solidFill>
                <a:latin typeface="Courier New"/>
              </a:rPr>
              <a:t>Customer: Contoso Financial Services (CONT) | Financial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670048"/>
            <a:ext cx="6858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5A623"/>
                </a:solidFill>
                <a:latin typeface="Courier New"/>
              </a:rPr>
              <a:t>  Services | Account manager: Alex Weir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999232"/>
            <a:ext cx="6858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5A623"/>
                </a:solidFill>
                <a:latin typeface="Courier New"/>
              </a:rPr>
              <a:t>Engagement: Data Platform Migration (CONT-2026-001) |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328415"/>
            <a:ext cx="6858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5A623"/>
                </a:solidFill>
                <a:latin typeface="Courier New"/>
              </a:rPr>
              <a:t>  Data and AI | Active | PM: Rachel Moreau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657599"/>
            <a:ext cx="6858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E2761"/>
                </a:solidFill>
                <a:latin typeface="Courier New"/>
              </a:rPr>
              <a:t>Work type: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986783"/>
            <a:ext cx="6858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E2761"/>
                </a:solidFill>
                <a:latin typeface="Courier New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315968"/>
            <a:ext cx="6858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E2761"/>
                </a:solidFill>
                <a:latin typeface="Courier New"/>
              </a:rPr>
              <a:t>Cut over the customer master domain in production. Ran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645152"/>
            <a:ext cx="6858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E2761"/>
                </a:solidFill>
                <a:latin typeface="Courier New"/>
              </a:rPr>
              <a:t>the reconciliation suite immediately afterwards, all green.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1737360"/>
            <a:ext cx="3017520" cy="16002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196596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THESE TWO LINES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2395728"/>
            <a:ext cx="2514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are the entire mechanism. About 200 bytes per row.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58200" y="3547872"/>
            <a:ext cx="3017520" cy="1709928"/>
          </a:xfrm>
          <a:prstGeom prst="roundRect">
            <a:avLst>
              <a:gd name="adj" fmla="val 4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3749039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5B9E"/>
                </a:solidFill>
                <a:latin typeface="Calibri"/>
              </a:rPr>
              <a:t>WITHOUT THEM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416052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E2761"/>
                </a:solidFill>
                <a:latin typeface="Calibri"/>
              </a:rPr>
              <a:t>this row is invisible to a Contoso search, no matter how the schema is configured.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14476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A6376"/>
                </a:solidFill>
                <a:latin typeface="Calibri"/>
              </a:rPr>
              <a:t>The narrative is the item’s value. The ancestor header is what makes it findable at all.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375136" y="384048"/>
            <a:ext cx="402336" cy="7772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475719" y="502920"/>
            <a:ext cx="301752" cy="77724"/>
          </a:xfrm>
          <a:prstGeom prst="roundRect">
            <a:avLst>
              <a:gd name="adj" fmla="val 50000"/>
            </a:avLst>
          </a:prstGeom>
          <a:solidFill>
            <a:srgbClr val="4A5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576304" y="621792"/>
            <a:ext cx="201168" cy="7772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5B9E"/>
                </a:solidFill>
                <a:latin typeface="Calibri"/>
              </a:rPr>
              <a:t>WHAT EACH ITEM CARRIES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046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1E2761"/>
                </a:solidFill>
                <a:latin typeface="Cambria"/>
              </a:rPr>
              <a:t>Denormalised in both directions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5120640" cy="3566160"/>
          </a:xfrm>
          <a:prstGeom prst="roundRect">
            <a:avLst>
              <a:gd name="adj" fmla="val 4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93391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Downward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06039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Calibri"/>
              </a:rPr>
              <a:t>Engagement item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53511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E2761"/>
                </a:solidFill>
                <a:latin typeface="Calibri"/>
              </a:rPr>
              <a:t>carries customer name, code, industry, region, account 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57599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Calibri"/>
              </a:rPr>
              <a:t>Time entry item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05072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E2761"/>
                </a:solidFill>
                <a:latin typeface="Calibri"/>
              </a:rPr>
              <a:t>carries all of that, plus engagement name, code, practice,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09160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4A5B9E"/>
                </a:solidFill>
                <a:latin typeface="Calibri"/>
              </a:rPr>
              <a:t>A customer search matches all three levels.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737360"/>
            <a:ext cx="5120640" cy="356616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59" y="1993391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F5A623"/>
                </a:solidFill>
                <a:latin typeface="Cambria"/>
              </a:rPr>
              <a:t>Upward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2606039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Customer item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2953511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lists its engagement names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3657599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Engagement item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4005072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lists the consultants who logged time to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4709160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CADCFC"/>
                </a:solidFill>
                <a:latin typeface="Calibri"/>
              </a:rPr>
              <a:t>A person’s name returns the engagements they worked on — not only their own hours.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14476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A6376"/>
                </a:solidFill>
                <a:latin typeface="Calibri"/>
              </a:rPr>
              <a:t>The traversal the index will not do is precomputed at both ends.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375136" y="384048"/>
            <a:ext cx="402336" cy="7772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475719" y="502920"/>
            <a:ext cx="301752" cy="77724"/>
          </a:xfrm>
          <a:prstGeom prst="roundRect">
            <a:avLst>
              <a:gd name="adj" fmla="val 50000"/>
            </a:avLst>
          </a:prstGeom>
          <a:solidFill>
            <a:srgbClr val="4A5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576304" y="621792"/>
            <a:ext cx="201168" cy="7772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5B9E"/>
                </a:solidFill>
                <a:latin typeface="Calibri"/>
              </a:rPr>
              <a:t>WHERE THE FLATTENING HAPPENS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046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1E2761"/>
                </a:solidFill>
                <a:latin typeface="Cambria"/>
              </a:rPr>
              <a:t>It lives in views, not in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2487168" cy="1691640"/>
          </a:xfrm>
          <a:prstGeom prst="roundRect">
            <a:avLst>
              <a:gd name="adj" fmla="val 4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93852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Calibri"/>
              </a:rPr>
              <a:t>3 tables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59152"/>
            <a:ext cx="21031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E2761"/>
                </a:solidFill>
                <a:latin typeface="Calibri"/>
              </a:rPr>
              <a:t>Customers
Engagements
TimeEntries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9544" y="239572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4A5B9E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7288" y="1737360"/>
            <a:ext cx="2487168" cy="1691640"/>
          </a:xfrm>
          <a:prstGeom prst="roundRect">
            <a:avLst>
              <a:gd name="adj" fmla="val 4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8456" y="193852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Calibri"/>
              </a:rPr>
              <a:t>3 views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456" y="2359152"/>
            <a:ext cx="21031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E2761"/>
                </a:solidFill>
                <a:latin typeface="Calibri"/>
              </a:rPr>
              <a:t>each joins its
ancestors and builds
its own 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71031" y="239572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4A5B9E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737360"/>
            <a:ext cx="2487168" cy="1691640"/>
          </a:xfrm>
          <a:prstGeom prst="roundRect">
            <a:avLst>
              <a:gd name="adj" fmla="val 4000"/>
            </a:avLst>
          </a:prstGeom>
          <a:solidFill>
            <a:srgbClr val="4A5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9944" y="193852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vwExternalItems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2359152"/>
            <a:ext cx="21031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UNION ALL — one
row per item, one
column shape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39572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4A5B9E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0264" y="1737360"/>
            <a:ext cx="2487168" cy="169164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71432" y="193852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SqlHierarchyPush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1432" y="2359152"/>
            <a:ext cx="21031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one SELECT,
no join logic
at 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79476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mbria"/>
              </a:rPr>
              <a:t>Three things that buys: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" y="4297679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315967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Readable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4325112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A6376"/>
                </a:solidFill>
                <a:latin typeface="Calibri"/>
              </a:rPr>
              <a:t>A DBA reads exactly what leaves the database, and can EXPLAIN it.</a:t>
            </a:r>
          </a:p>
        </p:txBody>
      </p:sp>
      <p:sp>
        <p:nvSpPr>
          <p:cNvPr id="27" name="Oval 26"/>
          <p:cNvSpPr/>
          <p:nvPr/>
        </p:nvSpPr>
        <p:spPr>
          <a:xfrm>
            <a:off x="685800" y="4956047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974335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Safe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4983479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A6376"/>
                </a:solidFill>
                <a:latin typeface="Calibri"/>
              </a:rPr>
              <a:t>The soft-delete filter is inside the view, not in a WHERE clause someone edits.</a:t>
            </a:r>
          </a:p>
        </p:txBody>
      </p:sp>
      <p:sp>
        <p:nvSpPr>
          <p:cNvPr id="30" name="Oval 29"/>
          <p:cNvSpPr/>
          <p:nvPr/>
        </p:nvSpPr>
        <p:spPr>
          <a:xfrm>
            <a:off x="685800" y="5614415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5632703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Contained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0360" y="5641847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A6376"/>
                </a:solidFill>
                <a:latin typeface="Calibri"/>
              </a:rPr>
              <a:t>The grant is on the views. The push identity cannot read the base tables.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375136" y="384048"/>
            <a:ext cx="402336" cy="7772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475719" y="502920"/>
            <a:ext cx="301752" cy="77724"/>
          </a:xfrm>
          <a:prstGeom prst="roundRect">
            <a:avLst>
              <a:gd name="adj" fmla="val 50000"/>
            </a:avLst>
          </a:prstGeom>
          <a:solidFill>
            <a:srgbClr val="4A5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576304" y="621792"/>
            <a:ext cx="201168" cy="7772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25 PROPERTIES, THREE JOBS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046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mbria"/>
              </a:rPr>
              <a:t>What the schema adds on 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CADCFC"/>
                </a:solidFill>
                <a:latin typeface="Calibri"/>
              </a:rPr>
              <a:t>Most searchable text is in the content blob. The properties do three specific jobs the blob cannot.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606040"/>
            <a:ext cx="3337560" cy="310896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81635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  <a:latin typeface="Courier New"/>
              </a:rPr>
              <a:t>isSearchable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29184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CADCFC"/>
                </a:solidFill>
                <a:latin typeface="Courier New"/>
              </a:rPr>
              <a:t>customerName, engagementName,
consultantName, hierarchyPath,
the codes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389120"/>
            <a:ext cx="2834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Gives those fields their own weight, so an exact customer name outranks an incidental mention buried in a narrative.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606040"/>
            <a:ext cx="3337560" cy="310896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281635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  <a:latin typeface="Courier New"/>
              </a:rPr>
              <a:t>isRefinable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329184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CADCFC"/>
                </a:solidFill>
                <a:latin typeface="Courier New"/>
              </a:rPr>
              <a:t>itemType, industry, region,
practice, status, workType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4389120"/>
            <a:ext cx="2834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Filtering and faceting. “Which customers are in Financial Services” works because industry is a facet.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2606040"/>
            <a:ext cx="3337560" cy="310896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281635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  <a:latin typeface="Courier New"/>
              </a:rPr>
              <a:t>containerName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329184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CADCFC"/>
                </a:solidFill>
                <a:latin typeface="Courier New"/>
              </a:rPr>
              <a:t>the parent: a customer for an
engagement, both ancestors
for a time entry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4389120"/>
            <a:ext cx="2834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A semantic label meaning “this sits inside that” — the only hierarchical concept the platform has.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89788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F5A623"/>
                </a:solidFill>
                <a:latin typeface="Calibri"/>
              </a:rPr>
              <a:t>Searchable and refinable are mutually exclusive. </a:t>
            </a:r>
            <a:r>
              <a:rPr sz="1250" b="0" i="0">
                <a:solidFill>
                  <a:srgbClr val="CADCFC"/>
                </a:solidFill>
                <a:latin typeface="Calibri"/>
              </a:rPr>
              <a:t>The tool throws before the first API call — otherwise you find out fifteen minutes into schema registration, with a connection stuck in draft that cannot be corrected without deleting every item in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375136" y="384048"/>
            <a:ext cx="402336" cy="7772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475719" y="502920"/>
            <a:ext cx="301752" cy="77724"/>
          </a:xfrm>
          <a:prstGeom prst="roundRect">
            <a:avLst>
              <a:gd name="adj" fmla="val 50000"/>
            </a:avLst>
          </a:prstGeom>
          <a:solidFill>
            <a:srgbClr val="4A5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576304" y="621792"/>
            <a:ext cx="201168" cy="7772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5B9E"/>
                </a:solidFill>
                <a:latin typeface="Calibri"/>
              </a:rPr>
              <a:t>AND WHAT TO DO ABOUT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046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1E2761"/>
                </a:solidFill>
                <a:latin typeface="Cambria"/>
              </a:rPr>
              <a:t>What Copilot still cannot 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5166360" cy="2103120"/>
          </a:xfrm>
          <a:prstGeom prst="roundRect">
            <a:avLst>
              <a:gd name="adj" fmla="val 4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93391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mbria"/>
              </a:rPr>
              <a:t>It will not total 1,052 rows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376"/>
                </a:solidFill>
                <a:latin typeface="Calibri"/>
              </a:rPr>
              <a:t>Retrieval returns a handful of items, not the set. Asking it to add up documents it never all saw is asking for a plausible wrong number.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5166360" cy="210312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993391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  <a:latin typeface="Cambria"/>
              </a:rPr>
              <a:t>So give it the 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56032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totalHours, childCount and contractValue are computed in SQL at push time and attached to the customer and engagement items. An answer cites a figure instead of doing arithmetic.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343400"/>
            <a:ext cx="3337560" cy="1508760"/>
          </a:xfrm>
          <a:prstGeom prst="roundRect">
            <a:avLst>
              <a:gd name="adj" fmla="val 4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4498848"/>
            <a:ext cx="2834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E2761"/>
                </a:solidFill>
                <a:latin typeface="Cambria"/>
              </a:rPr>
              <a:t>1,126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5285232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A6376"/>
                </a:solidFill>
                <a:latin typeface="Calibri"/>
              </a:rPr>
              <a:t>items, against
tenant item quota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4343400"/>
            <a:ext cx="3337560" cy="1508760"/>
          </a:xfrm>
          <a:prstGeom prst="roundRect">
            <a:avLst>
              <a:gd name="adj" fmla="val 4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2" y="4498848"/>
            <a:ext cx="2834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E2761"/>
                </a:solidFill>
                <a:latin typeface="Cambria"/>
              </a:rPr>
              <a:t>~200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5285232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A6376"/>
                </a:solidFill>
                <a:latin typeface="Calibri"/>
              </a:rPr>
              <a:t>per row, the cost of
the ancestor header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4343400"/>
            <a:ext cx="3337560" cy="1508760"/>
          </a:xfrm>
          <a:prstGeom prst="roundRect">
            <a:avLst>
              <a:gd name="adj" fmla="val 4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1" y="4498848"/>
            <a:ext cx="2834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E2761"/>
                </a:solidFill>
                <a:latin typeface="Cambr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5285232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A6376"/>
                </a:solidFill>
                <a:latin typeface="Calibri"/>
              </a:rPr>
              <a:t>levels, one flat
connection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14476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A6376"/>
                </a:solidFill>
                <a:latin typeface="Calibri"/>
              </a:rPr>
              <a:t>Those roll-ups are correct as of the last push, not as of now. That is the cost of moving the join to write time.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375136" y="384048"/>
            <a:ext cx="402336" cy="7772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475719" y="502920"/>
            <a:ext cx="301752" cy="77724"/>
          </a:xfrm>
          <a:prstGeom prst="roundRect">
            <a:avLst>
              <a:gd name="adj" fmla="val 50000"/>
            </a:avLst>
          </a:prstGeom>
          <a:solidFill>
            <a:srgbClr val="4A5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576304" y="621792"/>
            <a:ext cx="201168" cy="7772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5B9E"/>
                </a:solidFill>
                <a:latin typeface="Calibri"/>
              </a:rPr>
              <a:t>THREE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046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1E2761"/>
                </a:solidFill>
                <a:latin typeface="Cambria"/>
              </a:rPr>
              <a:t>Proving it, in the order that isolates faults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182880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4708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mbria"/>
              </a:rPr>
              <a:t>In SQL, before Graph exists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25880" y="2286000"/>
            <a:ext cx="4937760" cy="795528"/>
          </a:xfrm>
          <a:prstGeom prst="roundRect">
            <a:avLst>
              <a:gd name="adj" fmla="val 4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81328" y="2395728"/>
            <a:ext cx="466344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E2761"/>
                </a:solidFill>
                <a:latin typeface="Courier New"/>
              </a:rPr>
              <a:t>SELECT ItemType, COUNT(*) FROM dbo.vwExternalItems
WHERE Content LIKE N'%Contoso Financial Services%'
GROUP BY ItemType;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874519"/>
            <a:ext cx="4892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A6376"/>
                </a:solidFill>
                <a:latin typeface="Calibri"/>
              </a:rPr>
              <a:t>Three rows back — Customer, Engagement, TimeEntry — and the flattening works. One row back, and no Graph configuration will save it.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31012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2841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mbria"/>
              </a:rPr>
              <a:t>In the index, as a real user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25880" y="3767328"/>
            <a:ext cx="4937760" cy="448056"/>
          </a:xfrm>
          <a:prstGeom prst="roundRect">
            <a:avLst>
              <a:gd name="adj" fmla="val 4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81328" y="3877056"/>
            <a:ext cx="4663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E2761"/>
                </a:solidFill>
                <a:latin typeface="Courier New"/>
              </a:rPr>
              <a:t>.\deploy\Test-HierarchySearch.ps1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355848"/>
            <a:ext cx="4892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A6376"/>
                </a:solidFill>
                <a:latin typeface="Calibri"/>
              </a:rPr>
              <a:t>Checks the searchable annotations, then searches one customer and groups the hits by level. Run it as someone in the ACL group — search is security trimmed.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4791456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80974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mbria"/>
              </a:rPr>
              <a:t>In Copilot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25880" y="5248656"/>
            <a:ext cx="4937760" cy="448056"/>
          </a:xfrm>
          <a:prstGeom prst="roundRect">
            <a:avLst>
              <a:gd name="adj" fmla="val 4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81328" y="5358384"/>
            <a:ext cx="4663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E2761"/>
                </a:solidFill>
                <a:latin typeface="Courier New"/>
              </a:rPr>
              <a:t>“What work have we done for Contoso Financial Services?”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837176"/>
            <a:ext cx="4892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A6376"/>
                </a:solidFill>
                <a:latin typeface="Calibri"/>
              </a:rPr>
              <a:t>A weak answer here, when the two checks above passed, means semantic indexing has not caught up — not that the flattening failed.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375136" y="384048"/>
            <a:ext cx="402336" cy="7772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475719" y="502920"/>
            <a:ext cx="301752" cy="77724"/>
          </a:xfrm>
          <a:prstGeom prst="roundRect">
            <a:avLst>
              <a:gd name="adj" fmla="val 50000"/>
            </a:avLst>
          </a:prstGeom>
          <a:solidFill>
            <a:srgbClr val="4A5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576304" y="621792"/>
            <a:ext cx="201168" cy="7772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WHAT THIS TRADE BUYS AND CHARGES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046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mbria"/>
              </a:rPr>
              <a:t>The costs, stated plainly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5120640" cy="155448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938528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  <a:latin typeface="Cambria"/>
              </a:rPr>
              <a:t>The flattening is a snapshot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377439"/>
            <a:ext cx="4526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CADCFC"/>
                </a:solidFill>
                <a:latin typeface="Calibri"/>
              </a:rPr>
              <a:t>Rename a customer and ~100 descendant items still carry the old name until the next push. These are index items; the table is still the only place the name is authored.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5120640" cy="155448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938528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  <a:latin typeface="Cambria"/>
              </a:rPr>
              <a:t>Direct push never deletes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377439"/>
            <a:ext cx="4526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CADCFC"/>
                </a:solidFill>
                <a:latin typeface="Calibri"/>
              </a:rPr>
              <a:t>A soft-deleted row is excluded from the push, not removed from the index. It stays searchable and citable. Compare-SourceToIndex.ps1 finds those orphans.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93008"/>
            <a:ext cx="5120640" cy="155448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694176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  <a:latin typeface="Cambria"/>
              </a:rPr>
              <a:t>Ranking is not yours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4133087"/>
            <a:ext cx="4526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CADCFC"/>
                </a:solidFill>
                <a:latin typeface="Calibri"/>
              </a:rPr>
              <a:t>A customer search returns all three levels, but which specific time entries surface is the ranker’s decision, not the hierarchy’s.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493008"/>
            <a:ext cx="5120640" cy="155448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3694176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  <a:latin typeface="Cambria"/>
              </a:rPr>
              <a:t>Duplication is the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4133087"/>
            <a:ext cx="4526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CADCFC"/>
                </a:solidFill>
                <a:latin typeface="Calibri"/>
              </a:rPr>
              <a:t>A customer name appears on roughly a hundred items. The alternative — one connection per level — cannot be searched as one thing, which was the whole requirement.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74980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alibri"/>
              </a:rPr>
              <a:t>THE ONE THING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78638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A flat index cannot be made hierarchical.</a:t>
            </a:r>
          </a:p>
          <a:p>
            <a:pPr algn="l">
              <a:lnSpc>
                <a:spcPct val="115000"/>
              </a:lnSpc>
              <a:spcBef>
                <a:spcPts val="1600"/>
              </a:spcBef>
            </a:pPr>
            <a:r>
              <a:rPr sz="3000" b="1" i="0">
                <a:solidFill>
                  <a:srgbClr val="FFFFFF"/>
                </a:solidFill>
                <a:latin typeface="Cambria"/>
              </a:rPr>
              <a:t>But the hierarchy can be made </a:t>
            </a:r>
            <a:r>
              <a:rPr sz="3000" b="1" i="0">
                <a:solidFill>
                  <a:srgbClr val="F5A623"/>
                </a:solidFill>
                <a:latin typeface="Cambria"/>
              </a:rPr>
              <a:t>visible in the text</a:t>
            </a:r>
            <a:r>
              <a:rPr sz="3000" b="1" i="0">
                <a:solidFill>
                  <a:srgbClr val="FFFFFF"/>
                </a:solidFill>
                <a:latin typeface="Cambria"/>
              </a:rPr>
              <a:t> — and that is the only mechanism the platform offers.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617720"/>
            <a:ext cx="3840480" cy="54864"/>
          </a:xfrm>
          <a:prstGeom prst="roundRect">
            <a:avLst>
              <a:gd name="adj" fmla="val 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892040"/>
            <a:ext cx="7680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docs/HIERARCHY-TEST-CASE.md — the design, the full property table, and the Copilot prompts worth asking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300" b="0" i="0">
                <a:solidFill>
                  <a:srgbClr val="CADCFC"/>
                </a:solidFill>
                <a:latin typeface="Calibri"/>
              </a:rPr>
              <a:t>sql/12-timesheet-views.sql — the flattening layer itself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2148840"/>
            <a:ext cx="2468880" cy="384048"/>
          </a:xfrm>
          <a:prstGeom prst="roundRect">
            <a:avLst>
              <a:gd name="adj" fmla="val 25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0" bIns="0"/>
          <a:lstStyle/>
          <a:p>
            <a:pPr algn="l"/>
            <a:r>
              <a:rPr sz="1200" b="1">
                <a:solidFill>
                  <a:srgbClr val="1E2761"/>
                </a:solidFill>
                <a:latin typeface="Calibri"/>
              </a:rPr>
              <a:t>1   Customer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64040" y="2642616"/>
            <a:ext cx="2057400" cy="384048"/>
          </a:xfrm>
          <a:prstGeom prst="roundRect">
            <a:avLst>
              <a:gd name="adj" fmla="val 25000"/>
            </a:avLst>
          </a:prstGeom>
          <a:solidFill>
            <a:srgbClr val="4A5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0" bIns="0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2   Engagement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3136392"/>
            <a:ext cx="1645920" cy="384048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0" bIns="0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3   TimeEntry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