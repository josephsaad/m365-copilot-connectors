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22960" y="5440680"/>
            <a:ext cx="502920" cy="50292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CADCFC"/>
                </a:solidFill>
                <a:latin typeface="Calibri"/>
              </a:rPr>
              <a:t>BYPASSING THE GRAPH CONNECTOR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241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What you give up, </a:t>
            </a:r>
            <a:r>
              <a:rPr sz="4400" b="1">
                <a:solidFill>
                  <a:srgbClr val="CADCFC"/>
                </a:solidFill>
                <a:latin typeface="Calibri"/>
              </a:rPr>
              <a:t>feature by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96012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CADCFC"/>
                </a:solidFill>
                <a:latin typeface="Calibri"/>
              </a:rPr>
              <a:t>Ten capabilities the agent provides that a direct Graph API push must rebuild — and the short list it cannot take away. Written before that rebuild happened: eight of the ten now exist and have been live-tested at 111,800 items. See the final slide.</a:t>
            </a:r>
            <a:endParaRPr sz="1600" b="0">
              <a:solidFill>
                <a:srgbClr val="CADCFC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81328" y="5504688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Calibri"/>
              </a:rPr>
              <a:t>SqlTicketsConnector · docs/SECURITY.md §1 · Copilot connectors SDK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Two roads into the semantic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1556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391"/>
                </a:solidFill>
                <a:latin typeface="Calibri"/>
              </a:rPr>
              <a:t>Same destination — the Copilot index treats items from either path identically. The difference is who does the work in between.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THE PRODUCTION PATH — agent-hosted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SQL Server</a:t>
            </a:r>
          </a:p>
          <a:p>
            <a:pPr algn="ctr"/>
            <a:r>
              <a:rPr sz="950" b="0">
                <a:solidFill>
                  <a:srgbClr val="6E7391"/>
                </a:solidFill>
                <a:latin typeface="Calibri"/>
              </a:rPr>
              <a:t>dbo.Tickets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63347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98064" y="228600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Connector</a:t>
            </a:r>
          </a:p>
          <a:p>
            <a:pPr algn="ctr"/>
            <a:r>
              <a:rPr sz="950" b="0">
                <a:solidFill>
                  <a:srgbClr val="CADCFC"/>
                </a:solidFill>
                <a:latin typeface="Calibri"/>
              </a:rPr>
              <a:t>gRPC · loopback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535424" y="263347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773168" y="228600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GCA agent</a:t>
            </a:r>
          </a:p>
          <a:p>
            <a:pPr algn="ctr"/>
            <a:r>
              <a:rPr sz="950" b="0">
                <a:solidFill>
                  <a:srgbClr val="CADCFC"/>
                </a:solidFill>
                <a:latin typeface="Calibri"/>
              </a:rPr>
              <a:t>outbound 443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510527" y="263347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48272" y="228600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Microsoft Graph</a:t>
            </a:r>
          </a:p>
          <a:p>
            <a:pPr algn="ctr"/>
            <a:r>
              <a:rPr sz="950" b="0">
                <a:solidFill>
                  <a:srgbClr val="6E7391"/>
                </a:solidFill>
                <a:latin typeface="Calibri"/>
              </a:rPr>
              <a:t>ingestion API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485632" y="263347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723376" y="2286000"/>
            <a:ext cx="1554480" cy="960120"/>
          </a:xfrm>
          <a:prstGeom prst="roundRect">
            <a:avLst>
              <a:gd name="adj" fmla="val 12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Semantic index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0277855" y="2633472"/>
            <a:ext cx="182880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69296" y="2286000"/>
            <a:ext cx="1005840" cy="960120"/>
          </a:xfrm>
          <a:prstGeom prst="roundRect">
            <a:avLst>
              <a:gd name="adj" fmla="val 12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9476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A6FA5"/>
                </a:solidFill>
                <a:latin typeface="Calibri"/>
              </a:rPr>
              <a:t>THE BYPASS — direct push (SqlGraphPush)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06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SQL Server</a:t>
            </a:r>
          </a:p>
          <a:p>
            <a:pPr algn="ctr"/>
            <a:r>
              <a:rPr sz="950" b="0">
                <a:solidFill>
                  <a:srgbClr val="6E7391"/>
                </a:solidFill>
                <a:latin typeface="Calibri"/>
              </a:rPr>
              <a:t>dbo.Tickets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560320" y="45537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798064" y="4206240"/>
            <a:ext cx="22860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A6FA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50" b="1">
                <a:solidFill>
                  <a:srgbClr val="4A6FA5"/>
                </a:solidFill>
                <a:latin typeface="Calibri"/>
              </a:rPr>
              <a:t>Push tool</a:t>
            </a:r>
          </a:p>
          <a:p>
            <a:pPr algn="ctr"/>
            <a:r>
              <a:rPr sz="950" b="0">
                <a:solidFill>
                  <a:srgbClr val="6E7391"/>
                </a:solidFill>
                <a:latin typeface="Calibri"/>
              </a:rPr>
              <a:t>operator-run · HTTPS out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84064" y="4553712"/>
            <a:ext cx="142646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748272" y="4206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Microsoft Graph</a:t>
            </a:r>
          </a:p>
          <a:p>
            <a:pPr algn="ctr"/>
            <a:r>
              <a:rPr sz="950" b="0">
                <a:solidFill>
                  <a:srgbClr val="6E7391"/>
                </a:solidFill>
                <a:latin typeface="Calibri"/>
              </a:rPr>
              <a:t>PUT /external/items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406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B4161"/>
                </a:solidFill>
                <a:latin typeface="Calibri"/>
              </a:rPr>
              <a:t>Everything the agent sits between — scheduling, differencing, hashing, retries, checkpoints, the admin centre — </a:t>
            </a:r>
            <a:r>
              <a:rPr sz="1400" b="1">
                <a:solidFill>
                  <a:srgbClr val="1E2761"/>
                </a:solidFill>
                <a:latin typeface="Calibri"/>
              </a:rPr>
              <a:t>is exactly what the bypass forgoes.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4161"/>
                </a:solidFill>
                <a:latin typeface="Calibri"/>
              </a:rPr>
              <a:t>The ten features on the next three slides are that gap, one by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Crawl machinery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15568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391"/>
                </a:solidFill>
                <a:latin typeface="Calibri"/>
              </a:rPr>
              <a:t>The scheduling and hygiene the platform runs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61320" cy="100584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78992" y="1956816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801368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Crawl scheduling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418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Full and incremental crawls run on the admin-centre schedule — incrementals down to every 15 minutes — with missed-crawl catch-up when the agent was offline. Bypass it and nothing invokes your code: you own the timer, and the catch-up.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98648"/>
            <a:ext cx="10561320" cy="100584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78992" y="3163824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008376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Delete detection by differencing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319272"/>
            <a:ext cx="9418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On a full crawl the agent removes items you no longer return. Direct push has no “no longer returned”: every removal is an explicit DELETE against an inventory of what you previously pushed. Miss one and it stays in Copilot forever.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05656"/>
            <a:ext cx="10561320" cy="100584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78992" y="4370832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4215384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Change detection by hashing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526280"/>
            <a:ext cx="9418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The agent hashes each item and skips the unchanged, so a 100k-row full crawl might write only the 200 rows that moved. Direct push writes everything you send — or you build your own change tracking.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312664"/>
            <a:ext cx="10561320" cy="100584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78992" y="5577840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422392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Duplicate &amp; cycle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733288"/>
            <a:ext cx="9418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Linked sources that reach the same item twice are detected and skipped. Trivial for a keyed SQL table, real for anything link-shaped — gone either 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Operations &amp; identity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15568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391"/>
                </a:solidFill>
                <a:latin typeface="Calibri"/>
              </a:rPr>
              <a:t>What the admin centre and the agent’s plumbing absorb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61320" cy="128016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78992" y="2185415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892807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Admin centre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203704"/>
            <a:ext cx="9418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The connection wizard, your validation errors surfaced to the admin, crawl history, item counts, failure states. A pushed connection appears, but its health lives only in your own logs — nobody in the admin centre sees a failed run.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64408"/>
            <a:ext cx="10561320" cy="128016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78992" y="3666744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374136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Identity mapping for ACLs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685032"/>
            <a:ext cx="9418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The agent resolves source identities to Entra when stamping ACLs — the reason Directory.Read.All exists for Microsoft’s SQL connectors. Bypassing, every ACL entry must already be an Entra object ID you resolved yourself.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45736"/>
            <a:ext cx="10561320" cy="128016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78992" y="5148072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4855464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Retry &amp; throttling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166360"/>
            <a:ext cx="9418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The agent honours the RetryDetails your connector returns and absorbs Graph’s 429 / Retry-After backpressure. Direct push implements its own exponential backoff — and a bulk push will be throttled.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Resilience &amp;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15568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391"/>
                </a:solidFill>
                <a:latin typeface="Calibri"/>
              </a:rPr>
              <a:t>The unglamorous parts that only show up in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61320" cy="128016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78992" y="2185415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892807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One controlled egress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203704"/>
            <a:ext cx="9418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With the agent, the connector talks loopback only; one machine needs outbound 443. Bypassing, whatever runs the push needs login.microsoftonline.com and graph.microsoft.com — a firewall case per host on a locked-down network.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64408"/>
            <a:ext cx="10561320" cy="128016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78992" y="3666744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374136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Crawl checkpointing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685032"/>
            <a:ext cx="9418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The platform stores your progress marker and hands it back on resume, so a crashed crawl continues instead of restarting. Direct push persists its own watermark, durably, with the crash semantics done right.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45736"/>
            <a:ext cx="10561320" cy="128016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78992" y="5148072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4855464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Quota-efficient updates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166360"/>
            <a:ext cx="9418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Because only changed items are ingested, write volume stays proportional to churn. Naïve re-pushes burn Graph write throughput and item quota on data that never moved.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What the bypass cannot take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15568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391"/>
                </a:solidFill>
                <a:latin typeface="Calibri"/>
              </a:rPr>
              <a:t>These are properties of the index, not the agent. An item pushed directly is indistinguishable to Copilot from one the agent crawled.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42416" y="22585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39112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E2761"/>
                </a:solidFill>
                <a:latin typeface="Calibri"/>
              </a:rPr>
              <a:t>Semantic index &amp; grounding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377439"/>
            <a:ext cx="40690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Pushed items are embedded and retrieved exactly like crawled 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483096" y="22585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039112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E2761"/>
                </a:solidFill>
                <a:latin typeface="Calibri"/>
              </a:rPr>
              <a:t>Citations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377439"/>
            <a:ext cx="40690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Copilot cites the item URL either way — the deep link is yours to supply.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55848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42416" y="3739896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52044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E2761"/>
                </a:solidFill>
                <a:latin typeface="Calibri"/>
              </a:rPr>
              <a:t>ACL enforcement at query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58768"/>
            <a:ext cx="40690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The stamped ACL trims answers identically, whoever wrote the item.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355848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483096" y="3739896"/>
            <a:ext cx="457200" cy="457200"/>
          </a:xfrm>
          <a:prstGeom prst="ellipse">
            <a:avLst/>
          </a:prstGeom>
          <a:solidFill>
            <a:srgbClr val="4A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52044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1E2761"/>
                </a:solidFill>
                <a:latin typeface="Calibri"/>
              </a:rPr>
              <a:t>Real-time ingestion  — gained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858768"/>
            <a:ext cx="40690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3B4161"/>
                </a:solidFill>
                <a:latin typeface="Calibri"/>
              </a:rPr>
              <a:t>No 15-minute floor: a pushed item is available as soon as Graph accepts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2064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The trade in one sentence:  </a:t>
            </a:r>
            <a:r>
              <a:rPr sz="1500" b="0">
                <a:solidFill>
                  <a:srgbClr val="3B4161"/>
                </a:solidFill>
                <a:latin typeface="Calibri"/>
              </a:rPr>
              <a:t>bypassing buys immediacy and two fewer moving parts on the server, and pays for it in the ten features above — each fine to live without for a one-off push, each a rebuild-the-agent-badly project if you need it continuously.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The verdict this repo already encodes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91640"/>
            <a:ext cx="5120640" cy="3291840"/>
          </a:xfrm>
          <a:prstGeom prst="roundRect">
            <a:avLst>
              <a:gd name="adj" fmla="val 7000"/>
            </a:avLst>
          </a:prstGeom>
          <a:solidFill>
            <a:srgbClr val="2A3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965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CADCFC"/>
                </a:solidFill>
                <a:latin typeface="Calibri"/>
              </a:rPr>
              <a:t>AGENT-HOSTED CONNECTOR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3317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The production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834640"/>
            <a:ext cx="44348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Scheduled, differenced, checkpointed crawls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Deletions in minutes via DeletedItem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Health visible in the admin centre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One outbound host on a locked-down network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91640"/>
            <a:ext cx="5120640" cy="3291840"/>
          </a:xfrm>
          <a:prstGeom prst="roundRect">
            <a:avLst>
              <a:gd name="adj" fmla="val 7000"/>
            </a:avLst>
          </a:prstGeom>
          <a:solidFill>
            <a:srgbClr val="27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965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CADCFC"/>
                </a:solidFill>
                <a:latin typeface="Calibri"/>
              </a:rPr>
              <a:t>SQLGRAPHPUSH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3317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The operator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34640"/>
            <a:ext cx="4434840" cy="12695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Backfills and smoke tests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Proving tenant, app registration, quota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Real-time one-off ingestion</a:t>
            </a:r>
          </a:p>
          <a:p>
            <a:pPr algn="l">
              <a:spcAft>
                <a:spcPts val="800"/>
              </a:spcAft>
            </a:pPr>
            <a:r>
              <a:rPr lang="en-US" sz="1250" b="0">
                <a:solidFill>
                  <a:srgbClr val="FFFFFF"/>
                </a:solidFill>
                <a:latin typeface="Calibri"/>
              </a:rPr>
              <a:t>Now the standing sync too — items 1, 2, 3, 7 and 9 are built and live-tested</a:t>
            </a:r>
            <a:endParaRPr sz="125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60704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>
                <a:solidFill>
                  <a:srgbClr val="CADCFC"/>
                </a:solidFill>
                <a:latin typeface="Calibri"/>
              </a:rPr>
              <a:t>That requirement arrived, and the ten features were the work plan. Eight are built and were exercised at 111,800 items: scheduling, delete detection, hashing, duplicate detection, identity mapping, retry and throttling, checkpointing and quota-efficient updates. Admin-centre integration is replaced by an operations dashboard rather than rebuilt; one controlled egress is a firewall decision this repository can only point at.</a:t>
            </a:r>
            <a:endParaRPr sz="1400" b="1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958</Words>
  <Application>Microsoft Office PowerPoint</Application>
  <PresentationFormat>Widescreen</PresentationFormat>
  <Paragraphs>91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Joseph Saad</cp:lastModifiedBy>
  <cp:revision>3</cp:revision>
  <dcterms:created xsi:type="dcterms:W3CDTF">2013-01-27T09:14:16Z</dcterms:created>
  <dcterms:modified xsi:type="dcterms:W3CDTF">2026-08-31T01:12:58Z</dcterms:modified>
  <cp:category/>
</cp:coreProperties>
</file>